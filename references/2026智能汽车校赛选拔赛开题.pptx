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3" r:id="rId15"/>
    <p:sldId id="272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更多模板请关注：https://haosc.taobao.com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智能车竞赛面向全国大学生开展，据统计，第十八届竞速组全国参赛队伍近2800组，参赛学校多达645所。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选拔赛具体规则参考公众号推文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加了坡道，左边的环岛改为朝向外。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82BC"/>
          </a:solidFill>
          <a:ln w="0">
            <a:solidFill>
              <a:srgbClr val="0782BC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B3153"/>
          </a:solidFill>
          <a:ln w="0">
            <a:solidFill>
              <a:srgbClr val="0B3153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5" y="288871"/>
            <a:ext cx="9239250" cy="61373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A6B5"/>
          </a:solidFill>
          <a:ln w="0">
            <a:solidFill>
              <a:srgbClr val="19A6B5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466850"/>
            <a:ext cx="1000125" cy="76200"/>
          </a:xfrm>
          <a:prstGeom prst="rect">
            <a:avLst/>
          </a:prstGeom>
          <a:solidFill>
            <a:srgbClr val="D95F2B"/>
          </a:solidFill>
          <a:ln w="0">
            <a:solidFill>
              <a:srgbClr val="D95F2B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714500"/>
            <a:ext cx="781050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4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2026智能汽车校赛</a:t>
            </a:r>
            <a:endParaRPr sz="4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4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选拔赛开题</a:t>
            </a:r>
            <a:endParaRPr sz="4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629650" y="1295400"/>
            <a:ext cx="2933700" cy="1685925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9525">
            <a:solidFill>
              <a:srgbClr val="C8D9E4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0" y="1333576"/>
            <a:ext cx="2857500" cy="1609572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28650" y="5600700"/>
            <a:ext cx="7239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DDEC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DDEC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主办方：创新基地深蓝工程师智能车车队</a:t>
            </a:r>
            <a:endParaRPr sz="1950" b="0">
              <a:solidFill>
                <a:srgbClr val="DDEC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28650" y="6191250"/>
            <a:ext cx="10858500" cy="0"/>
          </a:xfrm>
          <a:prstGeom prst="line">
            <a:avLst/>
          </a:prstGeom>
          <a:noFill/>
          <a:ln w="19050">
            <a:solidFill>
              <a:srgbClr val="0782B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782BC"/>
          </a:solidFill>
          <a:ln w="0">
            <a:solidFill>
              <a:srgbClr val="0782BC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295275"/>
            <a:ext cx="9144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全国大学生智能汽车竞赛</a:t>
            </a:r>
            <a:endParaRPr sz="3000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1000125"/>
            <a:ext cx="742950" cy="0"/>
          </a:xfrm>
          <a:prstGeom prst="line">
            <a:avLst/>
          </a:prstGeom>
          <a:noFill/>
          <a:ln w="38100">
            <a:solidFill>
              <a:srgbClr val="19A6B5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133630"/>
            <a:ext cx="1571625" cy="885265"/>
          </a:xfrm>
          <a:prstGeom prst="rect">
            <a:avLst/>
          </a:prstGeom>
        </p:spPr>
      </p:pic>
      <p:sp>
        <p:nvSpPr>
          <p:cNvPr id="5" name="直接连接符 4"/>
          <p:cNvSpPr>
            <a:spLocks noGrp="1"/>
          </p:cNvSpPr>
          <p:nvPr/>
        </p:nvSpPr>
        <p:spPr>
          <a:xfrm>
            <a:off x="514350" y="6543675"/>
            <a:ext cx="11163300" cy="0"/>
          </a:xfrm>
          <a:prstGeom prst="line">
            <a:avLst/>
          </a:prstGeom>
          <a:noFill/>
          <a:ln w="9525">
            <a:solidFill>
              <a:srgbClr val="C8D9E4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323975"/>
            <a:ext cx="5772150" cy="434340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8D9E4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rcRect l="2069" r="2069"/>
          <a:stretch>
            <a:fillRect/>
          </a:stretch>
        </p:blipFill>
        <p:spPr>
          <a:xfrm>
            <a:off x="590550" y="1362075"/>
            <a:ext cx="5695950" cy="42672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6724650" y="1657350"/>
            <a:ext cx="95250" cy="438150"/>
          </a:xfrm>
          <a:prstGeom prst="rect">
            <a:avLst/>
          </a:prstGeom>
          <a:solidFill>
            <a:srgbClr val="D95F2B"/>
          </a:solidFill>
          <a:ln w="0">
            <a:solidFill>
              <a:srgbClr val="D95F2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29450" y="1581150"/>
            <a:ext cx="4286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7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教育部认可的A类赛事</a:t>
            </a:r>
            <a:endParaRPr sz="2175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24650" y="2543175"/>
            <a:ext cx="95250" cy="438150"/>
          </a:xfrm>
          <a:prstGeom prst="rect">
            <a:avLst/>
          </a:prstGeom>
          <a:solidFill>
            <a:srgbClr val="19A6B5"/>
          </a:solidFill>
          <a:ln w="0">
            <a:solidFill>
              <a:srgbClr val="19A6B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029450" y="2466975"/>
            <a:ext cx="4286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面向全国大学生开展</a:t>
            </a:r>
            <a:endParaRPr sz="202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724650" y="3429000"/>
            <a:ext cx="95250" cy="438150"/>
          </a:xfrm>
          <a:prstGeom prst="rect">
            <a:avLst/>
          </a:prstGeom>
          <a:solidFill>
            <a:srgbClr val="19A6B5"/>
          </a:solidFill>
          <a:ln w="0">
            <a:solidFill>
              <a:srgbClr val="19A6B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029450" y="3352800"/>
            <a:ext cx="4286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竞赛类别：竞速赛、创意赛、室外赛</a:t>
            </a:r>
            <a:endParaRPr sz="202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724650" y="4314825"/>
            <a:ext cx="95250" cy="438150"/>
          </a:xfrm>
          <a:prstGeom prst="rect">
            <a:avLst/>
          </a:prstGeom>
          <a:solidFill>
            <a:srgbClr val="19A6B5"/>
          </a:solidFill>
          <a:ln w="0">
            <a:solidFill>
              <a:srgbClr val="19A6B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029450" y="4238625"/>
            <a:ext cx="4286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至今已举办二十一届</a:t>
            </a:r>
            <a:endParaRPr sz="202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782BC"/>
          </a:solidFill>
          <a:ln w="0">
            <a:solidFill>
              <a:srgbClr val="0782BC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295275"/>
            <a:ext cx="9144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深蓝工程师智能车车队</a:t>
            </a:r>
            <a:endParaRPr sz="3000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1000125"/>
            <a:ext cx="742950" cy="0"/>
          </a:xfrm>
          <a:prstGeom prst="line">
            <a:avLst/>
          </a:prstGeom>
          <a:noFill/>
          <a:ln w="38100">
            <a:solidFill>
              <a:srgbClr val="19A6B5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133630"/>
            <a:ext cx="1571625" cy="885265"/>
          </a:xfrm>
          <a:prstGeom prst="rect">
            <a:avLst/>
          </a:prstGeom>
        </p:spPr>
      </p:pic>
      <p:sp>
        <p:nvSpPr>
          <p:cNvPr id="5" name="直接连接符 4"/>
          <p:cNvSpPr>
            <a:spLocks noGrp="1"/>
          </p:cNvSpPr>
          <p:nvPr/>
        </p:nvSpPr>
        <p:spPr>
          <a:xfrm>
            <a:off x="514350" y="6543675"/>
            <a:ext cx="11163300" cy="0"/>
          </a:xfrm>
          <a:prstGeom prst="line">
            <a:avLst/>
          </a:prstGeom>
          <a:noFill/>
          <a:ln w="9525">
            <a:solidFill>
              <a:srgbClr val="C8D9E4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81025" y="1562100"/>
            <a:ext cx="4933950" cy="2809875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C8D9E4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431" y="1600200"/>
            <a:ext cx="4853138" cy="2733675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6038850" y="1600200"/>
            <a:ext cx="76200" cy="2772410"/>
          </a:xfrm>
          <a:prstGeom prst="rect">
            <a:avLst/>
          </a:prstGeom>
          <a:solidFill>
            <a:srgbClr val="19A6B5"/>
          </a:solidFill>
          <a:ln w="0">
            <a:solidFill>
              <a:srgbClr val="19A6B5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419850" y="1600200"/>
            <a:ext cx="4905375" cy="2622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0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深蓝工程师智能车车队</a:t>
            </a:r>
            <a:endParaRPr sz="202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20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是一个专攻全国大学生智能汽车竞赛的组织。</a:t>
            </a:r>
            <a:endParaRPr sz="10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20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智能车车队拥有集软件、硬件、机械一体的综合性培养体系，在近几年的全国大学生智能汽车竞赛中多次斩获佳绩。</a:t>
            </a:r>
            <a:endParaRPr sz="10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20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全国大学生智能车</a:t>
            </a:r>
            <a:r>
              <a:rPr lang="zh-CN">
                <a:sym typeface="+mn-ea"/>
              </a:rPr>
              <a:t>比赛</a:t>
            </a:r>
            <a:endParaRPr sz="202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eaLnBrk="1" hangingPunct="1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教育部认可的</a:t>
            </a:r>
            <a:r>
              <a:rPr lang="en-US" altLang="zh-CN" sz="1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1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类赛事</a:t>
            </a:r>
            <a:endParaRPr lang="en-US" altLang="zh-CN" sz="10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eaLnBrk="1" hangingPunct="1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面向全国大学生开展</a:t>
            </a:r>
            <a:endParaRPr lang="en-US" altLang="zh-CN" sz="10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eaLnBrk="1" hangingPunct="1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竞赛类别：</a:t>
            </a:r>
            <a:r>
              <a:rPr lang="zh-CN" altLang="en-US" sz="1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竞速赛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、创意赛、室外赛</a:t>
            </a:r>
            <a:endParaRPr lang="en-US" altLang="zh-CN" sz="10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eaLnBrk="1" hangingPunct="1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至今已举办二十一届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20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000" b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A6B5"/>
          </a:solidFill>
          <a:ln w="0">
            <a:solidFill>
              <a:srgbClr val="19A6B5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43000" y="2514600"/>
            <a:ext cx="7239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5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赛题分析</a:t>
            </a:r>
            <a:endParaRPr sz="5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1143000" y="3810000"/>
            <a:ext cx="3048000" cy="0"/>
          </a:xfrm>
          <a:prstGeom prst="line">
            <a:avLst/>
          </a:prstGeom>
          <a:noFill/>
          <a:ln w="57150">
            <a:solidFill>
              <a:srgbClr val="D95F2B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8820150" y="2552700"/>
            <a:ext cx="255270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9525">
            <a:solidFill>
              <a:srgbClr val="C8D9E4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2078" y="2590800"/>
            <a:ext cx="2468844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782BC"/>
          </a:solidFill>
          <a:ln w="0">
            <a:solidFill>
              <a:srgbClr val="0782BC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295275"/>
            <a:ext cx="9144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规则介绍</a:t>
            </a:r>
            <a:endParaRPr sz="3000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1000125"/>
            <a:ext cx="742950" cy="0"/>
          </a:xfrm>
          <a:prstGeom prst="line">
            <a:avLst/>
          </a:prstGeom>
          <a:noFill/>
          <a:ln w="38100">
            <a:solidFill>
              <a:srgbClr val="19A6B5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133630"/>
            <a:ext cx="1571625" cy="885265"/>
          </a:xfrm>
          <a:prstGeom prst="rect">
            <a:avLst/>
          </a:prstGeom>
        </p:spPr>
      </p:pic>
      <p:sp>
        <p:nvSpPr>
          <p:cNvPr id="5" name="直接连接符 4"/>
          <p:cNvSpPr>
            <a:spLocks noGrp="1"/>
          </p:cNvSpPr>
          <p:nvPr/>
        </p:nvSpPr>
        <p:spPr>
          <a:xfrm>
            <a:off x="514350" y="6543675"/>
            <a:ext cx="11163300" cy="0"/>
          </a:xfrm>
          <a:prstGeom prst="line">
            <a:avLst/>
          </a:prstGeom>
          <a:noFill/>
          <a:ln w="9525">
            <a:solidFill>
              <a:srgbClr val="C8D9E4"/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1476375" y="1524000"/>
            <a:ext cx="0" cy="3714750"/>
          </a:xfrm>
          <a:prstGeom prst="line">
            <a:avLst/>
          </a:prstGeom>
          <a:noFill/>
          <a:ln w="19050">
            <a:solidFill>
              <a:srgbClr val="0782BC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1381125" y="1428750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82BC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857375" y="1323975"/>
            <a:ext cx="885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基础竞速</a:t>
            </a:r>
            <a:endParaRPr sz="2025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57375" y="1704975"/>
            <a:ext cx="885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575" b="0">
                <a:solidFill>
                  <a:srgbClr val="5D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D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限定使用摄像头循迹</a:t>
            </a:r>
            <a:endParaRPr sz="1575" b="0">
              <a:solidFill>
                <a:srgbClr val="5D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381125" y="2667000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82B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857375" y="2562225"/>
            <a:ext cx="885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队伍组成</a:t>
            </a:r>
            <a:endParaRPr sz="2025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57375" y="2943225"/>
            <a:ext cx="8858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500" b="0">
                <a:solidFill>
                  <a:srgbClr val="5D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D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推荐三位同学组成一队，分工推荐：一位硬件+两位软件。软件队友学习各个模块的例程，硬件队友学习绘制电路板，比赛需要使用自制主板与驱动板</a:t>
            </a:r>
            <a:endParaRPr sz="1500" b="0">
              <a:solidFill>
                <a:srgbClr val="5D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1381125" y="3905250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82B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857375" y="3800475"/>
            <a:ext cx="885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车模使用</a:t>
            </a:r>
            <a:endParaRPr sz="2025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857375" y="4181475"/>
            <a:ext cx="885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575" b="0">
                <a:solidFill>
                  <a:srgbClr val="5D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D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使用官方指定车模（四轮、三轮、两轮、独轮），也可使用自制车模</a:t>
            </a:r>
            <a:endParaRPr sz="1575" b="0">
              <a:solidFill>
                <a:srgbClr val="5D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381125" y="5143500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82B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857375" y="5038725"/>
            <a:ext cx="885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比赛要求</a:t>
            </a:r>
            <a:endParaRPr sz="2025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857375" y="5419725"/>
            <a:ext cx="8858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500" b="0">
                <a:solidFill>
                  <a:srgbClr val="5D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D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发车需要从车库进行发车，在一圈赛道需要完成环岛、十字、坡道、弯道和直道等元素并最终回到车库</a:t>
            </a:r>
            <a:endParaRPr sz="1500" b="0">
              <a:solidFill>
                <a:srgbClr val="5D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782BC"/>
          </a:solidFill>
          <a:ln w="0">
            <a:solidFill>
              <a:srgbClr val="0782BC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295275"/>
            <a:ext cx="9144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选拔赛赛道（PVC）</a:t>
            </a:r>
            <a:endParaRPr sz="3000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1000125"/>
            <a:ext cx="742950" cy="0"/>
          </a:xfrm>
          <a:prstGeom prst="line">
            <a:avLst/>
          </a:prstGeom>
          <a:noFill/>
          <a:ln w="38100">
            <a:solidFill>
              <a:srgbClr val="19A6B5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133630"/>
            <a:ext cx="1571625" cy="885265"/>
          </a:xfrm>
          <a:prstGeom prst="rect">
            <a:avLst/>
          </a:prstGeom>
        </p:spPr>
      </p:pic>
      <p:sp>
        <p:nvSpPr>
          <p:cNvPr id="5" name="直接连接符 4"/>
          <p:cNvSpPr>
            <a:spLocks noGrp="1"/>
          </p:cNvSpPr>
          <p:nvPr/>
        </p:nvSpPr>
        <p:spPr>
          <a:xfrm>
            <a:off x="514350" y="6543675"/>
            <a:ext cx="11163300" cy="0"/>
          </a:xfrm>
          <a:prstGeom prst="line">
            <a:avLst/>
          </a:prstGeom>
          <a:noFill/>
          <a:ln w="9525">
            <a:solidFill>
              <a:srgbClr val="C8D9E4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71500" y="1323975"/>
            <a:ext cx="4410075" cy="4410075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9525">
            <a:solidFill>
              <a:srgbClr val="C8D9E4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rcRect r="-879" b="9788"/>
          <a:stretch>
            <a:fillRect/>
          </a:stretch>
        </p:blipFill>
        <p:spPr>
          <a:xfrm>
            <a:off x="609600" y="1362075"/>
            <a:ext cx="4371975" cy="3909695"/>
          </a:xfrm>
          <a:prstGeom prst="rect">
            <a:avLst/>
          </a:prstGeom>
        </p:spPr>
      </p:pic>
      <p:sp>
        <p:nvSpPr>
          <p:cNvPr id="8" name="圆角矩形 7"/>
          <p:cNvSpPr>
            <a:spLocks noGrp="1"/>
          </p:cNvSpPr>
          <p:nvPr/>
        </p:nvSpPr>
        <p:spPr>
          <a:xfrm>
            <a:off x="5276850" y="1323975"/>
            <a:ext cx="6324600" cy="4410075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9525">
            <a:solidFill>
              <a:srgbClr val="C8D9E4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 t="16266" b="16266"/>
          <a:stretch>
            <a:fillRect/>
          </a:stretch>
        </p:blipFill>
        <p:spPr>
          <a:xfrm>
            <a:off x="5314950" y="1362075"/>
            <a:ext cx="6248400" cy="4333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782BC"/>
          </a:solidFill>
          <a:ln w="0">
            <a:solidFill>
              <a:srgbClr val="0782BC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295275"/>
            <a:ext cx="9144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PVC赛道规则</a:t>
            </a:r>
            <a:endParaRPr sz="3000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1000125"/>
            <a:ext cx="742950" cy="0"/>
          </a:xfrm>
          <a:prstGeom prst="line">
            <a:avLst/>
          </a:prstGeom>
          <a:noFill/>
          <a:ln w="38100">
            <a:solidFill>
              <a:srgbClr val="19A6B5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133630"/>
            <a:ext cx="1571625" cy="885265"/>
          </a:xfrm>
          <a:prstGeom prst="rect">
            <a:avLst/>
          </a:prstGeom>
        </p:spPr>
      </p:pic>
      <p:sp>
        <p:nvSpPr>
          <p:cNvPr id="5" name="直接连接符 4"/>
          <p:cNvSpPr>
            <a:spLocks noGrp="1"/>
          </p:cNvSpPr>
          <p:nvPr/>
        </p:nvSpPr>
        <p:spPr>
          <a:xfrm>
            <a:off x="514350" y="6543675"/>
            <a:ext cx="11163300" cy="0"/>
          </a:xfrm>
          <a:prstGeom prst="line">
            <a:avLst/>
          </a:prstGeom>
          <a:noFill/>
          <a:ln w="9525">
            <a:solidFill>
              <a:srgbClr val="C8D9E4"/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6172200" y="1352550"/>
            <a:ext cx="0" cy="4857750"/>
          </a:xfrm>
          <a:prstGeom prst="line">
            <a:avLst/>
          </a:prstGeom>
          <a:noFill/>
          <a:ln w="19050">
            <a:solidFill>
              <a:srgbClr val="C8D9E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304925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72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队伍组成每队不超过三人</a:t>
            </a:r>
            <a:endParaRPr sz="1725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733550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65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车模使用限制:</a:t>
            </a:r>
            <a:endParaRPr sz="1650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2057400"/>
            <a:ext cx="5238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defRPr sz="1500" b="0">
                <a:solidFill>
                  <a:srgbClr val="5D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D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可使用官方指定或自制车模(四轮、三轮、两轮、独轮等)。</a:t>
            </a:r>
            <a:endParaRPr sz="1500" b="0">
              <a:solidFill>
                <a:srgbClr val="5D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2647950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650" b="1">
                <a:solidFill>
                  <a:srgbClr val="D95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95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车模尺寸限制:</a:t>
            </a:r>
            <a:endParaRPr sz="1650" b="1">
              <a:solidFill>
                <a:srgbClr val="D95F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2971800"/>
            <a:ext cx="5238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宽≤25cm，高≤35cm，长≤30cm，后轮轮距≥15cm。</a:t>
            </a: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3571875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650" b="1">
                <a:solidFill>
                  <a:srgbClr val="D95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95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硬件要求:</a:t>
            </a:r>
            <a:endParaRPr sz="1650" b="1">
              <a:solidFill>
                <a:srgbClr val="D95F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3895725"/>
            <a:ext cx="5238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除核心板外，自制PCB板，需醒目标注队伍名称及参赛年份。</a:t>
            </a: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4572000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650" b="1">
                <a:solidFill>
                  <a:srgbClr val="D95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95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比赛流程：</a:t>
            </a:r>
            <a:endParaRPr sz="1650" b="1">
              <a:solidFill>
                <a:srgbClr val="D95F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4914900"/>
            <a:ext cx="5238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20000"/>
              </a:lnSpc>
              <a:buNone/>
              <a:defRPr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从斑马线处发车，途经环岛、路障、十字、坡道、弯道、直道，最终返回斑马线处停车。(元素顺序不定)</a:t>
            </a:r>
            <a:endParaRPr sz="142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53200" y="1304925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800" b="1">
                <a:solidFill>
                  <a:srgbClr val="C9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9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加罚时间:</a:t>
            </a:r>
            <a:endParaRPr sz="1800" b="1">
              <a:solidFill>
                <a:srgbClr val="C9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53200" y="1762125"/>
            <a:ext cx="476250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28000"/>
              </a:lnSpc>
              <a:buNone/>
              <a:defRPr sz="16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三轮车模:减10秒</a:t>
            </a:r>
            <a:endParaRPr sz="165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16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二轮车模:减20秒</a:t>
            </a:r>
            <a:endParaRPr sz="165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16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独轮车模:减30秒</a:t>
            </a:r>
            <a:endParaRPr sz="165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16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未避障:罚15秒</a:t>
            </a:r>
            <a:endParaRPr sz="165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16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未进环岛:罚30秒</a:t>
            </a:r>
            <a:endParaRPr sz="165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16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未停止在斑马线后:罚15秒</a:t>
            </a:r>
            <a:endParaRPr sz="165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553200" y="4457700"/>
            <a:ext cx="4762500" cy="1162050"/>
          </a:xfrm>
          <a:prstGeom prst="roundRect">
            <a:avLst>
              <a:gd name="adj" fmla="val 4918"/>
            </a:avLst>
          </a:prstGeom>
          <a:solidFill>
            <a:srgbClr val="EAF3F8"/>
          </a:solidFill>
          <a:ln w="9525">
            <a:solidFill>
              <a:srgbClr val="DDECF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781800" y="4619625"/>
            <a:ext cx="43053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defRPr sz="1650" b="1">
                <a:solidFill>
                  <a:srgbClr val="C9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9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两轮及以上(包括两轮，只允许一个轮子出界)出界:比赛失败</a:t>
            </a:r>
            <a:endParaRPr sz="1650" b="1">
              <a:solidFill>
                <a:srgbClr val="C9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782BC"/>
          </a:solidFill>
          <a:ln w="0">
            <a:solidFill>
              <a:srgbClr val="0782BC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295275"/>
            <a:ext cx="8477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85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选拔赛赛道（微缩光电赛道）</a:t>
            </a:r>
            <a:endParaRPr sz="2850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1000125"/>
            <a:ext cx="742950" cy="0"/>
          </a:xfrm>
          <a:prstGeom prst="line">
            <a:avLst/>
          </a:prstGeom>
          <a:noFill/>
          <a:ln w="38100">
            <a:solidFill>
              <a:srgbClr val="19A6B5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133630"/>
            <a:ext cx="1571625" cy="885265"/>
          </a:xfrm>
          <a:prstGeom prst="rect">
            <a:avLst/>
          </a:prstGeom>
        </p:spPr>
      </p:pic>
      <p:sp>
        <p:nvSpPr>
          <p:cNvPr id="5" name="直接连接符 4"/>
          <p:cNvSpPr>
            <a:spLocks noGrp="1"/>
          </p:cNvSpPr>
          <p:nvPr/>
        </p:nvSpPr>
        <p:spPr>
          <a:xfrm>
            <a:off x="514350" y="6543675"/>
            <a:ext cx="11163300" cy="0"/>
          </a:xfrm>
          <a:prstGeom prst="line">
            <a:avLst/>
          </a:prstGeom>
          <a:noFill/>
          <a:ln w="9525">
            <a:solidFill>
              <a:srgbClr val="C8D9E4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71500" y="1219200"/>
            <a:ext cx="5295900" cy="3438525"/>
          </a:xfrm>
          <a:prstGeom prst="roundRect">
            <a:avLst>
              <a:gd name="adj" fmla="val 2216"/>
            </a:avLst>
          </a:prstGeom>
          <a:solidFill>
            <a:srgbClr val="FFFFFF"/>
          </a:solidFill>
          <a:ln w="9525">
            <a:solidFill>
              <a:srgbClr val="C8D9E4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2" y="1257300"/>
            <a:ext cx="4502096" cy="3362325"/>
          </a:xfrm>
          <a:prstGeom prst="rect">
            <a:avLst/>
          </a:prstGeom>
        </p:spPr>
      </p:pic>
      <p:sp>
        <p:nvSpPr>
          <p:cNvPr id="8" name="圆角矩形 7"/>
          <p:cNvSpPr>
            <a:spLocks noGrp="1"/>
          </p:cNvSpPr>
          <p:nvPr/>
        </p:nvSpPr>
        <p:spPr>
          <a:xfrm>
            <a:off x="6153150" y="1219200"/>
            <a:ext cx="5467350" cy="3438525"/>
          </a:xfrm>
          <a:prstGeom prst="roundRect">
            <a:avLst>
              <a:gd name="adj" fmla="val 2216"/>
            </a:avLst>
          </a:prstGeom>
          <a:solidFill>
            <a:srgbClr val="FFFFFF"/>
          </a:solidFill>
          <a:ln w="9525">
            <a:solidFill>
              <a:srgbClr val="C8D9E4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609600" y="4914900"/>
            <a:ext cx="10972800" cy="1371600"/>
          </a:xfrm>
          <a:prstGeom prst="roundRect">
            <a:avLst>
              <a:gd name="adj" fmla="val 3472"/>
            </a:avLst>
          </a:prstGeom>
          <a:solidFill>
            <a:srgbClr val="EAF3F8"/>
          </a:solidFill>
          <a:ln w="9525">
            <a:solidFill>
              <a:srgbClr val="DDECF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5019675"/>
            <a:ext cx="10620375" cy="1162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7967"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缩微光电赛道是由宽度为 20mm±5mm 的白色胶带组成的不封闭环路， 铺设在蓝色的背景中。 为了便于铺设， 赛道线是由折线线段组成。 折线夹角不小于 90°， 折线长度不小于 10厘米。赛道中包括有直线、折线、十字交叉线、环岛等元素。 电磁环岛是由折线组成的正六边形构成， 正六边形边长不小于 20厘米。 两条相邻赛道之间的最小距离 为 20 厘米，赛道并没有边界。 在赛道的折线所有的内角处都布置锥桶， 车模在运行的过程中， 必须在锥桶的外侧绕线。 锥桶的底部边缘距离最近的电磁线的距离不小于 12厘米</a:t>
            </a: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5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755" y="1525270"/>
            <a:ext cx="5416550" cy="28270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782BC"/>
          </a:solidFill>
          <a:ln w="0">
            <a:solidFill>
              <a:srgbClr val="0782BC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295275"/>
            <a:ext cx="9144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微缩光电赛道规则</a:t>
            </a:r>
            <a:endParaRPr sz="3000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1000125"/>
            <a:ext cx="742950" cy="0"/>
          </a:xfrm>
          <a:prstGeom prst="line">
            <a:avLst/>
          </a:prstGeom>
          <a:noFill/>
          <a:ln w="38100">
            <a:solidFill>
              <a:srgbClr val="19A6B5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133630"/>
            <a:ext cx="1571625" cy="885265"/>
          </a:xfrm>
          <a:prstGeom prst="rect">
            <a:avLst/>
          </a:prstGeom>
        </p:spPr>
      </p:pic>
      <p:sp>
        <p:nvSpPr>
          <p:cNvPr id="5" name="直接连接符 4"/>
          <p:cNvSpPr>
            <a:spLocks noGrp="1"/>
          </p:cNvSpPr>
          <p:nvPr/>
        </p:nvSpPr>
        <p:spPr>
          <a:xfrm>
            <a:off x="514350" y="6543675"/>
            <a:ext cx="11163300" cy="0"/>
          </a:xfrm>
          <a:prstGeom prst="line">
            <a:avLst/>
          </a:prstGeom>
          <a:noFill/>
          <a:ln w="9525">
            <a:solidFill>
              <a:srgbClr val="C8D9E4"/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6153150" y="1295400"/>
            <a:ext cx="0" cy="4953000"/>
          </a:xfrm>
          <a:prstGeom prst="line">
            <a:avLst/>
          </a:prstGeom>
          <a:noFill/>
          <a:ln w="19050">
            <a:solidFill>
              <a:srgbClr val="C8D9E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1276350"/>
            <a:ext cx="5219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72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队伍组成每队不超过三人</a:t>
            </a:r>
            <a:endParaRPr sz="1725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733550"/>
            <a:ext cx="5238750" cy="1952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25000"/>
              </a:lnSpc>
              <a:buNone/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（1）使用制定车模在赛道上运行两周；</a:t>
            </a: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buNone/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（2）赛道为蓝色地面，白色中心引导线（宽度20±5mm）；</a:t>
            </a: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buNone/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（3）赛道具有若干断路区、虚线区；</a:t>
            </a: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buNone/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（4）允许车模增加负压风扇；</a:t>
            </a: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buNone/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（5）赛道元素不包含路障、坡道， 包含六边形环岛；</a:t>
            </a: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3886200"/>
            <a:ext cx="23812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D95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D95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车模尺寸限制:</a:t>
            </a:r>
            <a:endParaRPr sz="1575" b="1">
              <a:solidFill>
                <a:srgbClr val="D95F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575" b="1">
                <a:solidFill>
                  <a:srgbClr val="D95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575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4762500"/>
            <a:ext cx="523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650" b="1">
                <a:solidFill>
                  <a:srgbClr val="D95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95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硬件要求:</a:t>
            </a:r>
            <a:endParaRPr sz="1650" b="1">
              <a:solidFill>
                <a:srgbClr val="D95F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0550" y="5095875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除核心板外，自制PCB板，需醒目标注队伍名称及参赛年份。</a:t>
            </a: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24625" y="12763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650" b="1">
                <a:solidFill>
                  <a:srgbClr val="D95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95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比赛流程：</a:t>
            </a:r>
            <a:endParaRPr sz="1650" b="1">
              <a:solidFill>
                <a:srgbClr val="D95F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24625" y="1657350"/>
            <a:ext cx="47625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20000"/>
              </a:lnSpc>
              <a:buNone/>
              <a:defRPr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从斑马线处发车，途经环岛、十字、弯道、直道，最终返回</a:t>
            </a:r>
            <a:r>
              <a:rPr lang="zh-CN"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停车</a:t>
            </a:r>
            <a:r>
              <a:rPr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线处停车。(元素顺序不定)</a:t>
            </a:r>
            <a:endParaRPr sz="142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24625" y="281940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650" b="1">
                <a:solidFill>
                  <a:srgbClr val="C9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9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加罚时间:</a:t>
            </a:r>
            <a:endParaRPr sz="1650" b="1">
              <a:solidFill>
                <a:srgbClr val="C9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24625" y="3209925"/>
            <a:ext cx="4762500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25000"/>
              </a:lnSpc>
              <a:buNone/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未进环岛:罚30秒</a:t>
            </a: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buNone/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未停止在停车线后:罚15秒</a:t>
            </a: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buNone/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整车重量在200g以内，不罚时，在200g以上，每10g罚时1s</a:t>
            </a: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524625" y="4752975"/>
            <a:ext cx="4762500" cy="1009650"/>
          </a:xfrm>
          <a:prstGeom prst="roundRect">
            <a:avLst>
              <a:gd name="adj" fmla="val 5660"/>
            </a:avLst>
          </a:prstGeom>
          <a:solidFill>
            <a:srgbClr val="EAF3F8"/>
          </a:solidFill>
          <a:ln w="9525">
            <a:solidFill>
              <a:srgbClr val="DDECF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743700" y="4914900"/>
            <a:ext cx="43243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defRPr sz="1575" b="1">
                <a:solidFill>
                  <a:srgbClr val="C9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9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距离最近的电磁线的距离大于于 12厘米，视为出界，比赛失败</a:t>
            </a:r>
            <a:endParaRPr sz="1575" b="1">
              <a:solidFill>
                <a:srgbClr val="C9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782BC"/>
          </a:solidFill>
          <a:ln w="0">
            <a:solidFill>
              <a:srgbClr val="0782BC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295275"/>
            <a:ext cx="7334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MCU平台推荐：</a:t>
            </a:r>
            <a:endParaRPr sz="3000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1000125"/>
            <a:ext cx="742950" cy="0"/>
          </a:xfrm>
          <a:prstGeom prst="line">
            <a:avLst/>
          </a:prstGeom>
          <a:noFill/>
          <a:ln w="38100">
            <a:solidFill>
              <a:srgbClr val="19A6B5"/>
            </a:solidFill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133630"/>
            <a:ext cx="1571625" cy="885265"/>
          </a:xfrm>
          <a:prstGeom prst="rect">
            <a:avLst/>
          </a:prstGeom>
        </p:spPr>
      </p:pic>
      <p:sp>
        <p:nvSpPr>
          <p:cNvPr id="5" name="直接连接符 4"/>
          <p:cNvSpPr>
            <a:spLocks noGrp="1"/>
          </p:cNvSpPr>
          <p:nvPr/>
        </p:nvSpPr>
        <p:spPr>
          <a:xfrm>
            <a:off x="514350" y="6543675"/>
            <a:ext cx="11163300" cy="0"/>
          </a:xfrm>
          <a:prstGeom prst="line">
            <a:avLst/>
          </a:prstGeom>
          <a:noFill/>
          <a:ln w="9525">
            <a:solidFill>
              <a:srgbClr val="C8D9E4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90550" y="1238250"/>
            <a:ext cx="10991850" cy="762000"/>
          </a:xfrm>
          <a:prstGeom prst="roundRect">
            <a:avLst>
              <a:gd name="adj" fmla="val 6250"/>
            </a:avLst>
          </a:prstGeom>
          <a:solidFill>
            <a:srgbClr val="EAF3F8"/>
          </a:solidFill>
          <a:ln w="9525">
            <a:solidFill>
              <a:srgbClr val="DDECF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13906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425" b="1">
                <a:solidFill>
                  <a:srgbClr val="0B31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B31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Infineon TRAVEO系列单片机</a:t>
            </a:r>
            <a:endParaRPr sz="1425" b="1">
              <a:solidFill>
                <a:srgbClr val="0B31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429000" y="13906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NXP系列</a:t>
            </a:r>
            <a:endParaRPr sz="1575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15050" y="13906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575" b="1">
                <a:solidFill>
                  <a:srgbClr val="0B31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31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STC系列</a:t>
            </a:r>
            <a:endParaRPr sz="1575" b="1">
              <a:solidFill>
                <a:srgbClr val="0B31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801100" y="13906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龙芯开发板</a:t>
            </a:r>
            <a:endParaRPr sz="1575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48375" y="2266950"/>
            <a:ext cx="0" cy="3381375"/>
          </a:xfrm>
          <a:prstGeom prst="line">
            <a:avLst/>
          </a:prstGeom>
          <a:noFill/>
          <a:ln w="19050">
            <a:solidFill>
              <a:srgbClr val="C8D9E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90550" y="2209800"/>
            <a:ext cx="5095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65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（1）Infineon微控制器</a:t>
            </a:r>
            <a:endParaRPr sz="1650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90550" y="2628900"/>
            <a:ext cx="509587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25000"/>
              </a:lnSpc>
              <a:buNone/>
              <a:defRPr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AURIX™ 系列 ： TC212、TC264、TC364、TC377、TC387</a:t>
            </a:r>
            <a:r>
              <a:rPr lang="zh-CN">
                <a:sym typeface="+mn-ea"/>
              </a:rPr>
              <a:t>等</a:t>
            </a:r>
            <a:endParaRPr sz="142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buNone/>
              <a:defRPr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TRAVEO™ 系列： CYT4BB7、CYT2BL3</a:t>
            </a:r>
            <a:r>
              <a:rPr lang="zh-CN"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zh-CN" sz="142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90550" y="3733800"/>
            <a:ext cx="5095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65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（2）STC微控制器</a:t>
            </a:r>
            <a:endParaRPr lang="zh-CN" altLang="en-US" sz="1650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90550" y="4152900"/>
            <a:ext cx="509587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 lnSpcReduction="20000"/>
          </a:bodyPr>
          <a:lstStyle/>
          <a:p>
            <a:pPr algn="l">
              <a:lnSpc>
                <a:spcPct val="125000"/>
              </a:lnSpc>
              <a:buNone/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Ai8051U，AI8052U；</a:t>
            </a: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buNone/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STC32G12K128， 8H8K64U</a:t>
            </a:r>
            <a:r>
              <a:rPr lang="zh-CN"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STC32G144K246</a:t>
            </a:r>
            <a:r>
              <a:rPr lang="zh-CN" altLang="en-US"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zh-CN" altLang="en-US"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29375" y="220980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def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（3）NXP微控制器以及MicroPython开发板</a:t>
            </a:r>
            <a:endParaRPr sz="1575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29375" y="2667000"/>
            <a:ext cx="48577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NXP公司微控制器，以及基于NXP控制器的MicroPython控制开发板。 主控芯片推荐使用 RT 系列单片机</a:t>
            </a:r>
            <a:r>
              <a:rPr lang="zh-CN" sz="13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3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RT1064,RT1021</a:t>
            </a:r>
            <a:r>
              <a:rPr lang="zh-CN" altLang="en-US" sz="13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等）</a:t>
            </a:r>
            <a:r>
              <a:rPr sz="13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视觉模块i.MXRT 系列和MCX系列。</a:t>
            </a:r>
            <a:endParaRPr sz="135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29375" y="3981450"/>
            <a:ext cx="4857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（4）龙芯中科开发板</a:t>
            </a:r>
            <a:endParaRPr sz="1575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29375" y="440055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龙芯中科开发板</a:t>
            </a: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590550" y="5486400"/>
            <a:ext cx="10696575" cy="609600"/>
          </a:xfrm>
          <a:prstGeom prst="roundRect">
            <a:avLst>
              <a:gd name="adj" fmla="val 7813"/>
            </a:avLst>
          </a:prstGeom>
          <a:solidFill>
            <a:srgbClr val="0B3153"/>
          </a:solidFill>
          <a:ln w="0">
            <a:solidFill>
              <a:srgbClr val="0B3153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81050" y="5600700"/>
            <a:ext cx="103155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rmAutofit fontScale="60000"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本身赛题因为视觉处理的性能需要，鼓励大家探索使用高性能的MCU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</a:t>
            </a:r>
            <a:r>
              <a:rPr lang="en-US" alt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STC</a:t>
            </a:r>
            <a:r>
              <a:rPr lang="zh-CN" altLang="en-US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的单片机型号可能会出现性能不够的情况，使用需要</a:t>
            </a:r>
            <a:r>
              <a:rPr lang="zh-CN" altLang="en-US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再三考虑</a:t>
            </a:r>
            <a:endParaRPr lang="zh-CN" altLang="en-US"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782BC"/>
          </a:solidFill>
          <a:ln w="0">
            <a:solidFill>
              <a:srgbClr val="0782BC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295275"/>
            <a:ext cx="7334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推荐使用的</a:t>
            </a:r>
            <a:r>
              <a: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MCU平台：</a:t>
            </a:r>
            <a:endParaRPr sz="3000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1000125"/>
            <a:ext cx="742950" cy="0"/>
          </a:xfrm>
          <a:prstGeom prst="line">
            <a:avLst/>
          </a:prstGeom>
          <a:noFill/>
          <a:ln w="38100">
            <a:solidFill>
              <a:srgbClr val="19A6B5"/>
            </a:solidFill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133630"/>
            <a:ext cx="1571625" cy="885265"/>
          </a:xfrm>
          <a:prstGeom prst="rect">
            <a:avLst/>
          </a:prstGeom>
        </p:spPr>
      </p:pic>
      <p:sp>
        <p:nvSpPr>
          <p:cNvPr id="5" name="直接连接符 4"/>
          <p:cNvSpPr>
            <a:spLocks noGrp="1"/>
          </p:cNvSpPr>
          <p:nvPr/>
        </p:nvSpPr>
        <p:spPr>
          <a:xfrm>
            <a:off x="514350" y="6543675"/>
            <a:ext cx="11163300" cy="0"/>
          </a:xfrm>
          <a:prstGeom prst="line">
            <a:avLst/>
          </a:prstGeom>
          <a:noFill/>
          <a:ln w="9525">
            <a:solidFill>
              <a:srgbClr val="C8D9E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429000" y="234061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75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1483360"/>
            <a:ext cx="5095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65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（1）Infineon微控制器</a:t>
            </a:r>
            <a:endParaRPr sz="1650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1902460"/>
            <a:ext cx="509587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25000"/>
              </a:lnSpc>
              <a:buNone/>
              <a:defRPr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AURIX™ 系列 ： TC264</a:t>
            </a:r>
            <a:endParaRPr lang="zh-CN" sz="142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90550" y="2245360"/>
            <a:ext cx="5095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65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650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90550" y="2664460"/>
            <a:ext cx="509587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 lnSpcReduction="20000"/>
          </a:bodyPr>
          <a:lstStyle/>
          <a:p>
            <a:pPr algn="l">
              <a:lnSpc>
                <a:spcPct val="125000"/>
              </a:lnSpc>
              <a:buNone/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42950" y="239522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def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）NXP</a:t>
            </a:r>
            <a:endParaRPr sz="1575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14350" y="2797810"/>
            <a:ext cx="48577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3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RT</a:t>
            </a:r>
            <a:r>
              <a:rPr lang="zh-CN" altLang="en-US" sz="13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系列单片机：</a:t>
            </a:r>
            <a:r>
              <a:rPr lang="en-US" altLang="zh-CN" sz="13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RT1064</a:t>
            </a:r>
            <a:endParaRPr sz="135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57275" y="3442970"/>
            <a:ext cx="4857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75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29375" y="291211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782BC"/>
          </a:solidFill>
          <a:ln w="0">
            <a:solidFill>
              <a:srgbClr val="0782BC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295275"/>
            <a:ext cx="7334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完整支持的</a:t>
            </a:r>
            <a:r>
              <a: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MCU平台：</a:t>
            </a:r>
            <a:endParaRPr sz="3000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1000125"/>
            <a:ext cx="742950" cy="0"/>
          </a:xfrm>
          <a:prstGeom prst="line">
            <a:avLst/>
          </a:prstGeom>
          <a:noFill/>
          <a:ln w="38100">
            <a:solidFill>
              <a:srgbClr val="19A6B5"/>
            </a:solidFill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133630"/>
            <a:ext cx="1571625" cy="885265"/>
          </a:xfrm>
          <a:prstGeom prst="rect">
            <a:avLst/>
          </a:prstGeom>
        </p:spPr>
      </p:pic>
      <p:sp>
        <p:nvSpPr>
          <p:cNvPr id="5" name="直接连接符 4"/>
          <p:cNvSpPr>
            <a:spLocks noGrp="1"/>
          </p:cNvSpPr>
          <p:nvPr/>
        </p:nvSpPr>
        <p:spPr>
          <a:xfrm>
            <a:off x="514350" y="6543675"/>
            <a:ext cx="11163300" cy="0"/>
          </a:xfrm>
          <a:prstGeom prst="line">
            <a:avLst/>
          </a:prstGeom>
          <a:noFill/>
          <a:ln w="9525">
            <a:solidFill>
              <a:srgbClr val="C8D9E4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90550" y="1238250"/>
            <a:ext cx="10991850" cy="762000"/>
          </a:xfrm>
          <a:prstGeom prst="roundRect">
            <a:avLst>
              <a:gd name="adj" fmla="val 6250"/>
            </a:avLst>
          </a:prstGeom>
          <a:solidFill>
            <a:srgbClr val="EAF3F8"/>
          </a:solidFill>
          <a:ln w="9525">
            <a:solidFill>
              <a:srgbClr val="DDECF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13906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425" b="1">
                <a:solidFill>
                  <a:srgbClr val="0B31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B31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Infineon TRAVEO系列单片机</a:t>
            </a:r>
            <a:endParaRPr sz="1425" b="1">
              <a:solidFill>
                <a:srgbClr val="0B31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429000" y="13906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NXP系列</a:t>
            </a:r>
            <a:endParaRPr sz="1575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15050" y="13906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575" b="1">
                <a:solidFill>
                  <a:srgbClr val="0B31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31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STC系列</a:t>
            </a:r>
            <a:endParaRPr sz="1575" b="1">
              <a:solidFill>
                <a:srgbClr val="0B31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801100" y="13906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龙芯开发板</a:t>
            </a:r>
            <a:endParaRPr sz="1575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48375" y="2266950"/>
            <a:ext cx="0" cy="3381375"/>
          </a:xfrm>
          <a:prstGeom prst="line">
            <a:avLst/>
          </a:prstGeom>
          <a:noFill/>
          <a:ln w="19050">
            <a:solidFill>
              <a:srgbClr val="C8D9E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90550" y="2209800"/>
            <a:ext cx="5095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65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（1）Infineon微控制器</a:t>
            </a:r>
            <a:endParaRPr sz="1600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90550" y="2628900"/>
            <a:ext cx="509587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25000"/>
              </a:lnSpc>
              <a:buNone/>
              <a:defRPr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AURIX™ 系列 ： TC212、TC264、TC364、TC377、TC387</a:t>
            </a:r>
            <a:r>
              <a:rPr lang="zh-CN">
                <a:sym typeface="+mn-ea"/>
              </a:rPr>
              <a:t>等</a:t>
            </a:r>
            <a:endParaRPr sz="142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buNone/>
              <a:defRPr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TRAVEO™ 系列： CYT4BB7、CYT2BL3</a:t>
            </a:r>
            <a:r>
              <a:rPr lang="zh-CN" sz="142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zh-CN" sz="142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90550" y="3733800"/>
            <a:ext cx="5095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65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（2）STC微控制器</a:t>
            </a:r>
            <a:endParaRPr lang="zh-CN" altLang="en-US" sz="1600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90550" y="4152900"/>
            <a:ext cx="509587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 lnSpcReduction="20000"/>
          </a:bodyPr>
          <a:lstStyle/>
          <a:p>
            <a:pPr algn="l">
              <a:lnSpc>
                <a:spcPct val="125000"/>
              </a:lnSpc>
              <a:buNone/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Ai8051U，AI8052U；</a:t>
            </a: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buNone/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STC32G12K128， 8H8K64U</a:t>
            </a:r>
            <a:r>
              <a:rPr lang="zh-CN"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STC32G144K246</a:t>
            </a:r>
            <a:r>
              <a:rPr lang="zh-CN" altLang="en-US"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zh-CN" altLang="en-US"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29375" y="220980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def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（3）NXP微控制器以及MicroPython开发板</a:t>
            </a:r>
            <a:endParaRPr sz="1600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29375" y="2667000"/>
            <a:ext cx="48577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NXP公司微控制器，以及基于NXP控制器的MicroPython控制开发板。 主控芯片推荐使用 RT 系列单片机</a:t>
            </a:r>
            <a:r>
              <a:rPr lang="zh-CN" sz="13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3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RT1064,RT1021</a:t>
            </a:r>
            <a:r>
              <a:rPr lang="zh-CN" altLang="en-US" sz="13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等）</a:t>
            </a:r>
            <a:r>
              <a:rPr sz="135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视觉模块i.MXRT 系列和MCX系列。</a:t>
            </a:r>
            <a:endParaRPr sz="135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24930" y="3619500"/>
            <a:ext cx="4857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5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（4）龙芯中科开发板</a:t>
            </a:r>
            <a:endParaRPr sz="1600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56045" y="390525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def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龙芯中科开发板</a:t>
            </a:r>
            <a:endParaRPr sz="1500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590550" y="5486400"/>
            <a:ext cx="10696575" cy="609600"/>
          </a:xfrm>
          <a:prstGeom prst="roundRect">
            <a:avLst>
              <a:gd name="adj" fmla="val 7813"/>
            </a:avLst>
          </a:prstGeom>
          <a:solidFill>
            <a:srgbClr val="0B3153"/>
          </a:solidFill>
          <a:ln w="0">
            <a:solidFill>
              <a:srgbClr val="0B3153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81050" y="5600700"/>
            <a:ext cx="103155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rmAutofit fontScale="60000"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本身赛题因为视觉处理的性能需要，鼓励大家探索使用高性能的MCU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</a:t>
            </a:r>
            <a:r>
              <a:rPr lang="en-US" alt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STC</a:t>
            </a:r>
            <a:r>
              <a:rPr lang="zh-CN" altLang="en-US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的单片机型号可能会出现性能不够的情况，使用需要</a:t>
            </a:r>
            <a:r>
              <a:rPr lang="zh-CN" altLang="en-US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再三考虑</a:t>
            </a:r>
            <a:endParaRPr lang="zh-CN" altLang="en-US"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83655" y="427990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60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sz="160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sz="160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sz="160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其他各种型号</a:t>
            </a:r>
            <a:r>
              <a:rPr lang="zh-CN" sz="1600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单片机</a:t>
            </a:r>
            <a:endParaRPr lang="zh-CN" sz="1600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95F2B"/>
          </a:solidFill>
          <a:ln w="0">
            <a:solidFill>
              <a:srgbClr val="D95F2B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43000" y="2095500"/>
            <a:ext cx="619125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6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6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buNone/>
              <a:defRPr sz="6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事项</a:t>
            </a:r>
            <a:endParaRPr sz="6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1143000" y="4857750"/>
            <a:ext cx="2857500" cy="0"/>
          </a:xfrm>
          <a:prstGeom prst="line">
            <a:avLst/>
          </a:prstGeom>
          <a:noFill/>
          <a:ln w="57150">
            <a:solidFill>
              <a:srgbClr val="19A6B5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8820150" y="2552700"/>
            <a:ext cx="255270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9525">
            <a:solidFill>
              <a:srgbClr val="C8D9E4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2078" y="2590800"/>
            <a:ext cx="2468844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782BC"/>
          </a:solidFill>
          <a:ln w="0">
            <a:solidFill>
              <a:srgbClr val="0782BC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295275"/>
            <a:ext cx="9144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实验室规范</a:t>
            </a:r>
            <a:endParaRPr sz="3000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1000125"/>
            <a:ext cx="742950" cy="0"/>
          </a:xfrm>
          <a:prstGeom prst="line">
            <a:avLst/>
          </a:prstGeom>
          <a:noFill/>
          <a:ln w="38100">
            <a:solidFill>
              <a:srgbClr val="19A6B5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133630"/>
            <a:ext cx="1571625" cy="885265"/>
          </a:xfrm>
          <a:prstGeom prst="rect">
            <a:avLst/>
          </a:prstGeom>
        </p:spPr>
      </p:pic>
      <p:sp>
        <p:nvSpPr>
          <p:cNvPr id="5" name="直接连接符 4"/>
          <p:cNvSpPr>
            <a:spLocks noGrp="1"/>
          </p:cNvSpPr>
          <p:nvPr/>
        </p:nvSpPr>
        <p:spPr>
          <a:xfrm>
            <a:off x="514350" y="6543675"/>
            <a:ext cx="11163300" cy="0"/>
          </a:xfrm>
          <a:prstGeom prst="line">
            <a:avLst/>
          </a:prstGeom>
          <a:noFill/>
          <a:ln w="9525">
            <a:solidFill>
              <a:srgbClr val="C8D9E4"/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1714500" y="1666875"/>
            <a:ext cx="0" cy="3600450"/>
          </a:xfrm>
          <a:prstGeom prst="line">
            <a:avLst/>
          </a:prstGeom>
          <a:noFill/>
          <a:ln w="19050">
            <a:solidFill>
              <a:srgbClr val="0782BC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1619250" y="1571625"/>
            <a:ext cx="190500" cy="190500"/>
          </a:xfrm>
          <a:prstGeom prst="ellipse">
            <a:avLst/>
          </a:prstGeom>
          <a:solidFill>
            <a:srgbClr val="C9473A"/>
          </a:solidFill>
          <a:ln w="19050">
            <a:solidFill>
              <a:srgbClr val="C9473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095500" y="1466850"/>
            <a:ext cx="885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400" b="1">
                <a:solidFill>
                  <a:srgbClr val="C9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C9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千万千万不得穿鞋进入赛道蓝色区域！！！</a:t>
            </a:r>
            <a:endParaRPr sz="2400" b="1">
              <a:solidFill>
                <a:srgbClr val="C9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619250" y="2771775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82BC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095500" y="2667000"/>
            <a:ext cx="885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7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焊接工具使用完要及时断电</a:t>
            </a:r>
            <a:endParaRPr sz="2175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619250" y="3971925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82B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095500" y="3867150"/>
            <a:ext cx="885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7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不能乱动摆放在实验室的器械和元件</a:t>
            </a:r>
            <a:endParaRPr sz="2175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1619250" y="5172075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82B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095500" y="5067300"/>
            <a:ext cx="885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7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注意实验室卫生</a:t>
            </a:r>
            <a:endParaRPr sz="2175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782BC"/>
          </a:solidFill>
          <a:ln w="0">
            <a:solidFill>
              <a:srgbClr val="0782BC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295275"/>
            <a:ext cx="9144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选拔赛注意事项</a:t>
            </a:r>
            <a:endParaRPr sz="3000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1000125"/>
            <a:ext cx="742950" cy="0"/>
          </a:xfrm>
          <a:prstGeom prst="line">
            <a:avLst/>
          </a:prstGeom>
          <a:noFill/>
          <a:ln w="38100">
            <a:solidFill>
              <a:srgbClr val="19A6B5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133630"/>
            <a:ext cx="1571625" cy="885265"/>
          </a:xfrm>
          <a:prstGeom prst="rect">
            <a:avLst/>
          </a:prstGeom>
        </p:spPr>
      </p:pic>
      <p:sp>
        <p:nvSpPr>
          <p:cNvPr id="5" name="直接连接符 4"/>
          <p:cNvSpPr>
            <a:spLocks noGrp="1"/>
          </p:cNvSpPr>
          <p:nvPr/>
        </p:nvSpPr>
        <p:spPr>
          <a:xfrm>
            <a:off x="514350" y="6543675"/>
            <a:ext cx="11163300" cy="0"/>
          </a:xfrm>
          <a:prstGeom prst="line">
            <a:avLst/>
          </a:prstGeom>
          <a:noFill/>
          <a:ln w="9525">
            <a:solidFill>
              <a:srgbClr val="C8D9E4"/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1714500" y="1666875"/>
            <a:ext cx="0" cy="3600450"/>
          </a:xfrm>
          <a:prstGeom prst="line">
            <a:avLst/>
          </a:prstGeom>
          <a:noFill/>
          <a:ln w="19050">
            <a:solidFill>
              <a:srgbClr val="0782BC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1619250" y="1571625"/>
            <a:ext cx="190500" cy="190500"/>
          </a:xfrm>
          <a:prstGeom prst="ellipse">
            <a:avLst/>
          </a:prstGeom>
          <a:solidFill>
            <a:srgbClr val="C9473A"/>
          </a:solidFill>
          <a:ln w="19050">
            <a:solidFill>
              <a:srgbClr val="C9473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095500" y="1466850"/>
            <a:ext cx="885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325" b="1">
                <a:solidFill>
                  <a:srgbClr val="C9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C9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严禁抄袭代码！</a:t>
            </a:r>
            <a:endParaRPr sz="2325" b="1">
              <a:solidFill>
                <a:srgbClr val="C9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619250" y="2771775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82BC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095500" y="2667000"/>
            <a:ext cx="885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7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多问，多交流，不要“闭门造车”</a:t>
            </a:r>
            <a:endParaRPr sz="2175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619250" y="3971925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82B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095500" y="3867150"/>
            <a:ext cx="885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7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保持良好心态，找好备赛节奏</a:t>
            </a:r>
            <a:endParaRPr sz="2175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1619250" y="5172075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82B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095500" y="5067300"/>
            <a:ext cx="885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782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车队队员选拔标准：平时表现+面试+成绩</a:t>
            </a:r>
            <a:endParaRPr sz="2175" b="1">
              <a:solidFill>
                <a:srgbClr val="0782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782BC"/>
          </a:solidFill>
          <a:ln w="0">
            <a:solidFill>
              <a:srgbClr val="0782BC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295275"/>
            <a:ext cx="9144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资料获取</a:t>
            </a:r>
            <a:endParaRPr sz="3000" b="1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1000125"/>
            <a:ext cx="742950" cy="0"/>
          </a:xfrm>
          <a:prstGeom prst="line">
            <a:avLst/>
          </a:prstGeom>
          <a:noFill/>
          <a:ln w="38100">
            <a:solidFill>
              <a:srgbClr val="19A6B5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0" y="133630"/>
            <a:ext cx="1571625" cy="885265"/>
          </a:xfrm>
          <a:prstGeom prst="rect">
            <a:avLst/>
          </a:prstGeom>
        </p:spPr>
      </p:pic>
      <p:sp>
        <p:nvSpPr>
          <p:cNvPr id="5" name="直接连接符 4"/>
          <p:cNvSpPr>
            <a:spLocks noGrp="1"/>
          </p:cNvSpPr>
          <p:nvPr/>
        </p:nvSpPr>
        <p:spPr>
          <a:xfrm>
            <a:off x="514350" y="6543675"/>
            <a:ext cx="11163300" cy="0"/>
          </a:xfrm>
          <a:prstGeom prst="line">
            <a:avLst/>
          </a:prstGeom>
          <a:noFill/>
          <a:ln w="9525">
            <a:solidFill>
              <a:srgbClr val="C8D9E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00175"/>
            <a:ext cx="76200" cy="628650"/>
          </a:xfrm>
          <a:prstGeom prst="rect">
            <a:avLst/>
          </a:prstGeom>
          <a:solidFill>
            <a:srgbClr val="D95F2B"/>
          </a:solidFill>
          <a:ln w="0">
            <a:solidFill>
              <a:srgbClr val="D95F2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00125" y="1352550"/>
            <a:ext cx="2476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1">
                <a:solidFill>
                  <a:srgbClr val="0B31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31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论坛博客</a:t>
            </a:r>
            <a:endParaRPr sz="2025" b="1">
              <a:solidFill>
                <a:srgbClr val="0B31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000500" y="1352550"/>
            <a:ext cx="6858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217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CSDN、知乎等</a:t>
            </a:r>
            <a:endParaRPr sz="217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000125" y="2286000"/>
            <a:ext cx="9858375" cy="0"/>
          </a:xfrm>
          <a:prstGeom prst="line">
            <a:avLst/>
          </a:prstGeom>
          <a:noFill/>
          <a:ln w="9525">
            <a:solidFill>
              <a:srgbClr val="C8D9E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571750"/>
            <a:ext cx="76200" cy="628650"/>
          </a:xfrm>
          <a:prstGeom prst="rect">
            <a:avLst/>
          </a:prstGeom>
          <a:solidFill>
            <a:srgbClr val="19A6B5"/>
          </a:solidFill>
          <a:ln w="0">
            <a:solidFill>
              <a:srgbClr val="19A6B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00125" y="2524125"/>
            <a:ext cx="2476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1">
                <a:solidFill>
                  <a:srgbClr val="0B31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31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例程</a:t>
            </a:r>
            <a:endParaRPr sz="2025" b="1">
              <a:solidFill>
                <a:srgbClr val="0B31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00500" y="2524125"/>
            <a:ext cx="6858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217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逐飞店铺、龙邱店铺等</a:t>
            </a:r>
            <a:endParaRPr sz="217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1000125" y="3457575"/>
            <a:ext cx="9858375" cy="0"/>
          </a:xfrm>
          <a:prstGeom prst="line">
            <a:avLst/>
          </a:prstGeom>
          <a:noFill/>
          <a:ln w="9525">
            <a:solidFill>
              <a:srgbClr val="C8D9E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3743325"/>
            <a:ext cx="76200" cy="628650"/>
          </a:xfrm>
          <a:prstGeom prst="rect">
            <a:avLst/>
          </a:prstGeom>
          <a:solidFill>
            <a:srgbClr val="19A6B5"/>
          </a:solidFill>
          <a:ln w="0">
            <a:solidFill>
              <a:srgbClr val="19A6B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00125" y="3695700"/>
            <a:ext cx="2476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1">
                <a:solidFill>
                  <a:srgbClr val="0B31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31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开源算法、代码</a:t>
            </a:r>
            <a:endParaRPr sz="2025" b="1">
              <a:solidFill>
                <a:srgbClr val="0B31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000500" y="3695700"/>
            <a:ext cx="6858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217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GitHub、Gitee（码云）等</a:t>
            </a:r>
            <a:endParaRPr sz="217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1000125" y="4629150"/>
            <a:ext cx="9858375" cy="0"/>
          </a:xfrm>
          <a:prstGeom prst="line">
            <a:avLst/>
          </a:prstGeom>
          <a:noFill/>
          <a:ln w="9525">
            <a:solidFill>
              <a:srgbClr val="C8D9E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5800" y="4914900"/>
            <a:ext cx="76200" cy="819150"/>
          </a:xfrm>
          <a:prstGeom prst="rect">
            <a:avLst/>
          </a:prstGeom>
          <a:solidFill>
            <a:srgbClr val="19A6B5"/>
          </a:solidFill>
          <a:ln w="0">
            <a:solidFill>
              <a:srgbClr val="19A6B5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00125" y="4867275"/>
            <a:ext cx="2476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1">
                <a:solidFill>
                  <a:srgbClr val="0B31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31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问题咨询</a:t>
            </a:r>
            <a:endParaRPr sz="2025" b="1">
              <a:solidFill>
                <a:srgbClr val="0B31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000500" y="4867275"/>
            <a:ext cx="6858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217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选拔赛微信群、QQ</a:t>
            </a:r>
            <a:endParaRPr sz="217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217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52B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技术交流群、店铺技术客服等</a:t>
            </a:r>
            <a:endParaRPr sz="2175" b="0">
              <a:solidFill>
                <a:srgbClr val="152B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2311</Words>
  <Application>WPS 演示</Application>
  <PresentationFormat>Converted Presentation</PresentationFormat>
  <Paragraphs>230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.</cp:lastModifiedBy>
  <cp:revision>6</cp:revision>
  <dcterms:created xsi:type="dcterms:W3CDTF">2026-09-13T08:31:24Z</dcterms:created>
  <dcterms:modified xsi:type="dcterms:W3CDTF">2026-09-13T08:56:22Z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59832BF8E7D640728A018850A0AA8C5A_12</vt:lpwstr>
  </property>
</Properties>
</file>